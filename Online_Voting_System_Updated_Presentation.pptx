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228600" cy="6858000"/>
          </a:xfrm>
          <a:prstGeom prst="rect">
            <a:avLst/>
          </a:prstGeom>
          <a:solidFill>
            <a:srgbClr val="64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81360" y="0"/>
            <a:ext cx="228600" cy="6858000"/>
          </a:xfrm>
          <a:prstGeom prst="rect">
            <a:avLst/>
          </a:prstGeom>
          <a:solidFill>
            <a:srgbClr val="E2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ONLINE VOTING SYSTEM</a:t>
            </a:r>
          </a:p>
          <a:p>
            <a:pPr algn="ctr">
              <a:defRPr sz="2500">
                <a:solidFill>
                  <a:srgbClr val="C0DCF5"/>
                </a:solidFill>
                <a:latin typeface="Aptos"/>
              </a:defRPr>
            </a:pPr>
            <a:r>
              <a:t>Using Aadhaar-Style OTP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063240"/>
            <a:ext cx="5074920" cy="566928"/>
          </a:xfrm>
          <a:prstGeom prst="roundRect">
            <a:avLst/>
          </a:prstGeom>
          <a:solidFill>
            <a:srgbClr val="1E426C"/>
          </a:solidFill>
          <a:ln>
            <a:solidFill>
              <a:srgbClr val="427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3127248"/>
            <a:ext cx="4800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Secure • Simple • One-Vote Restriction • Automated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977639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B4C8E1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572000"/>
            <a:ext cx="5394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K. Sandhya Rani  |  2520030473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956048"/>
            <a:ext cx="5394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M. Meenakshi  |  2520030315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715000"/>
            <a:ext cx="2468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B4C8E1"/>
                </a:solidFill>
                <a:latin typeface="Aptos"/>
              </a:defRPr>
            </a:pPr>
            <a:r>
              <a:t>TEAM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What the system does and why it is proposed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7160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64792"/>
            <a:ext cx="3310128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Provide a web-based voting workflow for eligible voters.</a:t>
            </a:r>
          </a:p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Verify voter identity using OTP sent to the registered mobile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73152" cy="1828800"/>
          </a:xfrm>
          <a:prstGeom prst="rect">
            <a:avLst/>
          </a:prstGeom>
          <a:solidFill>
            <a:srgbClr val="64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37160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Core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764792"/>
            <a:ext cx="3310128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Authenticate → authorize → cast one vote → store → count → generate result.</a:t>
            </a:r>
          </a:p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Keep voter, candidate, election and vote information centrally managed.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234440"/>
            <a:ext cx="73152" cy="1828800"/>
          </a:xfrm>
          <a:prstGeom prst="rect">
            <a:avLst/>
          </a:prstGeom>
          <a:solidFill>
            <a:srgbClr val="E2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3716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Expected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764792"/>
            <a:ext cx="2990088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Reduce paperwork and manual effort.</a:t>
            </a:r>
          </a:p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Make vote processing and result generation faster and easier to manage.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749039"/>
            <a:ext cx="566928" cy="566928"/>
          </a:xfrm>
          <a:prstGeom prst="ellipse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31336"/>
            <a:ext cx="56692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34840"/>
            <a:ext cx="1051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22A4C"/>
                </a:solidFill>
                <a:latin typeface="Aptos"/>
              </a:defRPr>
            </a:pPr>
            <a:r>
              <a:t>Voter details</a:t>
            </a:r>
          </a:p>
        </p:txBody>
      </p:sp>
      <p:sp>
        <p:nvSpPr>
          <p:cNvPr id="22" name="Chevron 21"/>
          <p:cNvSpPr/>
          <p:nvPr/>
        </p:nvSpPr>
        <p:spPr>
          <a:xfrm>
            <a:off x="2011680" y="3886200"/>
            <a:ext cx="384048" cy="292608"/>
          </a:xfrm>
          <a:prstGeom prst="chevron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62072" y="3749039"/>
            <a:ext cx="566928" cy="566928"/>
          </a:xfrm>
          <a:prstGeom prst="ellipse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2072" y="3831336"/>
            <a:ext cx="56692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4434840"/>
            <a:ext cx="1051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22A4C"/>
                </a:solidFill>
                <a:latin typeface="Aptos"/>
              </a:defRPr>
            </a:pPr>
            <a:r>
              <a:t>OTP verification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4279392" y="3886200"/>
            <a:ext cx="384048" cy="292608"/>
          </a:xfrm>
          <a:prstGeom prst="chevron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29784" y="3749039"/>
            <a:ext cx="566928" cy="566928"/>
          </a:xfrm>
          <a:prstGeom prst="ellipse">
            <a:avLst/>
          </a:prstGeom>
          <a:solidFill>
            <a:srgbClr val="64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9784" y="3831336"/>
            <a:ext cx="56692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1184" y="4434840"/>
            <a:ext cx="1051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22A4C"/>
                </a:solidFill>
                <a:latin typeface="Aptos"/>
              </a:defRPr>
            </a:pPr>
            <a:r>
              <a:t>Candidate selection</a:t>
            </a:r>
          </a:p>
        </p:txBody>
      </p:sp>
      <p:sp>
        <p:nvSpPr>
          <p:cNvPr id="30" name="Chevron 29"/>
          <p:cNvSpPr/>
          <p:nvPr/>
        </p:nvSpPr>
        <p:spPr>
          <a:xfrm>
            <a:off x="6547104" y="3886200"/>
            <a:ext cx="384048" cy="292608"/>
          </a:xfrm>
          <a:prstGeom prst="chevron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97496" y="3749039"/>
            <a:ext cx="566928" cy="566928"/>
          </a:xfrm>
          <a:prstGeom prst="ellipse">
            <a:avLst/>
          </a:prstGeom>
          <a:solidFill>
            <a:srgbClr val="E2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7496" y="3831336"/>
            <a:ext cx="56692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4434840"/>
            <a:ext cx="1051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22A4C"/>
                </a:solidFill>
                <a:latin typeface="Aptos"/>
              </a:defRPr>
            </a:pPr>
            <a:r>
              <a:t>Vote stored</a:t>
            </a:r>
          </a:p>
        </p:txBody>
      </p:sp>
      <p:sp>
        <p:nvSpPr>
          <p:cNvPr id="34" name="Chevron 33"/>
          <p:cNvSpPr/>
          <p:nvPr/>
        </p:nvSpPr>
        <p:spPr>
          <a:xfrm>
            <a:off x="8814816" y="3886200"/>
            <a:ext cx="384048" cy="292608"/>
          </a:xfrm>
          <a:prstGeom prst="chevron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65208" y="3749039"/>
            <a:ext cx="566928" cy="566928"/>
          </a:xfrm>
          <a:prstGeom prst="ellipse">
            <a:avLst/>
          </a:prstGeom>
          <a:solidFill>
            <a:srgbClr val="31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5208" y="3831336"/>
            <a:ext cx="56692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4434840"/>
            <a:ext cx="1051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22A4C"/>
                </a:solidFill>
                <a:latin typeface="Aptos"/>
              </a:defRPr>
            </a:pPr>
            <a:r>
              <a:t>Result generated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166360"/>
            <a:ext cx="10972800" cy="868680"/>
          </a:xfrm>
          <a:prstGeom prst="roundRect">
            <a:avLst/>
          </a:prstGeom>
          <a:solidFill>
            <a:srgbClr val="E0ECF9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5166360"/>
            <a:ext cx="73152" cy="86868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3035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C"/>
                </a:solidFill>
                <a:latin typeface="Aptos Display"/>
              </a:defRPr>
            </a:pPr>
            <a:r>
              <a:t>Scope Note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5696712"/>
            <a:ext cx="10625328" cy="2103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This is an academic prototype. OTP-based verification is demonstrated through the registered mobile number; official UIDAI authentication is not claimed unless an authorized integration is actually implemented.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The project addresses practical limitations of conventional voting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74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64592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6303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Accessibility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56231"/>
            <a:ext cx="4727448" cy="987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Voters must reach the designated polling location and follow its operating schedule.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074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73152" cy="1645920"/>
          </a:xfrm>
          <a:prstGeom prst="rect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46303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Manual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856231"/>
            <a:ext cx="4727448" cy="987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Identity and voter records may require conventional checking and human involvement.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5074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383280"/>
            <a:ext cx="73152" cy="1645920"/>
          </a:xfrm>
          <a:prstGeom prst="rect">
            <a:avLst/>
          </a:prstGeom>
          <a:solidFill>
            <a:srgbClr val="E2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2044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Administrative Effort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913632"/>
            <a:ext cx="4727448" cy="987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Physical records and coordination increase workload for election personnel.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383280"/>
            <a:ext cx="5074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383280"/>
            <a:ext cx="73152" cy="1645920"/>
          </a:xfrm>
          <a:prstGeom prst="rect">
            <a:avLst/>
          </a:prstGeom>
          <a:solidFill>
            <a:srgbClr val="64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52044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913632"/>
            <a:ext cx="4727448" cy="987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Vote recording, record consolidation and result handling can require significant manual effort.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532120"/>
            <a:ext cx="10881360" cy="685800"/>
          </a:xfrm>
          <a:prstGeom prst="roundRect">
            <a:avLst/>
          </a:prstGeom>
          <a:solidFill>
            <a:srgbClr val="E0F4F2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532120"/>
            <a:ext cx="73152" cy="685800"/>
          </a:xfrm>
          <a:prstGeom prst="rect">
            <a:avLst/>
          </a:prstGeom>
          <a:solidFill>
            <a:srgbClr val="31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5669280"/>
            <a:ext cx="10561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C"/>
                </a:solidFill>
                <a:latin typeface="Aptos Display"/>
              </a:defRPr>
            </a:pPr>
            <a:r>
              <a:t>Project Requirement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6062472"/>
            <a:ext cx="10533888" cy="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A system that verifies eligible voters before voting, restricts a verified voter to one vote, stores vote data systematically, and supports faster result generation.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Conventional voting workflow represented in the current project scope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234440"/>
            <a:ext cx="393192" cy="393192"/>
          </a:xfrm>
          <a:prstGeom prst="ellipse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71016"/>
            <a:ext cx="39319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216152"/>
            <a:ext cx="4800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7"/>
                </a:solidFill>
                <a:latin typeface="Aptos"/>
              </a:defRPr>
            </a:pPr>
            <a:r>
              <a:t>Voter information is checked and recorded through conventional procedures.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1234440"/>
            <a:ext cx="393192" cy="393192"/>
          </a:xfrm>
          <a:prstGeom prst="ellipse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71016"/>
            <a:ext cx="39319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216152"/>
            <a:ext cx="4800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7"/>
                </a:solidFill>
                <a:latin typeface="Aptos"/>
              </a:defRPr>
            </a:pPr>
            <a:r>
              <a:t>Physical documents may be required during voter verification.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377440"/>
            <a:ext cx="393192" cy="393192"/>
          </a:xfrm>
          <a:prstGeom prst="ellipse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14016"/>
            <a:ext cx="39319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359152"/>
            <a:ext cx="4800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7"/>
                </a:solidFill>
                <a:latin typeface="Aptos"/>
              </a:defRPr>
            </a:pPr>
            <a:r>
              <a:t>Polling activities depend on physical polling infrastructure.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377440"/>
            <a:ext cx="393192" cy="393192"/>
          </a:xfrm>
          <a:prstGeom prst="ellipse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414016"/>
            <a:ext cx="39319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359152"/>
            <a:ext cx="4800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7"/>
                </a:solidFill>
                <a:latin typeface="Aptos"/>
              </a:defRPr>
            </a:pPr>
            <a:r>
              <a:t>Vote recording and verification involve greater human involvement.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520440"/>
            <a:ext cx="393192" cy="393192"/>
          </a:xfrm>
          <a:prstGeom prst="ellipse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57016"/>
            <a:ext cx="39319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2152"/>
            <a:ext cx="4800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7"/>
                </a:solidFill>
                <a:latin typeface="Aptos"/>
              </a:defRPr>
            </a:pPr>
            <a:r>
              <a:t>Manual data entry can introduce record-management errors.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3520440"/>
            <a:ext cx="393192" cy="393192"/>
          </a:xfrm>
          <a:prstGeom prst="ellipse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557016"/>
            <a:ext cx="39319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502152"/>
            <a:ext cx="4800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7"/>
                </a:solidFill>
                <a:latin typeface="Aptos"/>
              </a:defRPr>
            </a:pPr>
            <a:r>
              <a:t>Voters must follow the polling location's operating schedule.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663440"/>
            <a:ext cx="393192" cy="393192"/>
          </a:xfrm>
          <a:prstGeom prst="ellipse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0016"/>
            <a:ext cx="39319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45152"/>
            <a:ext cx="4800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7"/>
                </a:solidFill>
                <a:latin typeface="Aptos"/>
              </a:defRPr>
            </a:pPr>
            <a:r>
              <a:t>Monitoring the overall process requires coordination among election officials.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4663440"/>
            <a:ext cx="393192" cy="393192"/>
          </a:xfrm>
          <a:prstGeom prst="ellipse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700016"/>
            <a:ext cx="39319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645152"/>
            <a:ext cx="4800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7"/>
                </a:solidFill>
                <a:latin typeface="Aptos"/>
              </a:defRPr>
            </a:pPr>
            <a:r>
              <a:t>Manual handling of records increases administrative workload.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806440"/>
            <a:ext cx="10881360" cy="502920"/>
          </a:xfrm>
          <a:prstGeom prst="roundRect">
            <a:avLst/>
          </a:prstGeom>
          <a:solidFill>
            <a:srgbClr val="FAE6E8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806440"/>
            <a:ext cx="73152" cy="502920"/>
          </a:xfrm>
          <a:prstGeom prst="rect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943600"/>
            <a:ext cx="10561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A4C"/>
                </a:solidFill>
                <a:latin typeface="Aptos Display"/>
              </a:defRPr>
            </a:pPr>
            <a:r>
              <a:t>Key Limitation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6336792"/>
            <a:ext cx="10533888" cy="-1554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32B37"/>
                </a:solidFill>
                <a:latin typeface="Aptos"/>
              </a:defRPr>
            </a:pPr>
            <a:r>
              <a:t>• The conventional approach depends more heavily on physical infrastructure and manual handling of voter records and voting operations.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A structured digital workflow built around OTP verification and one-vote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520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169164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Digital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64792"/>
            <a:ext cx="3172968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Web-based portal for eligible voters.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520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73152" cy="1691640"/>
          </a:xfrm>
          <a:prstGeom prst="rect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OTP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764792"/>
            <a:ext cx="3172968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OTP sent to the voter's registered mobile number.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3520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234440"/>
            <a:ext cx="73152" cy="1691640"/>
          </a:xfrm>
          <a:prstGeom prst="rect">
            <a:avLst/>
          </a:prstGeom>
          <a:solidFill>
            <a:srgbClr val="64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One-Vote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764792"/>
            <a:ext cx="3172968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Verified voter is permitted to cast only one vote.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337560"/>
            <a:ext cx="3520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337560"/>
            <a:ext cx="73152" cy="1691640"/>
          </a:xfrm>
          <a:prstGeom prst="rect">
            <a:avLst/>
          </a:prstGeom>
          <a:solidFill>
            <a:srgbClr val="E2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Admin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67911"/>
            <a:ext cx="3172968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Manage voters, candidates, elections and results.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337560"/>
            <a:ext cx="3520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337560"/>
            <a:ext cx="73152" cy="1691640"/>
          </a:xfrm>
          <a:prstGeom prst="rect">
            <a:avLst/>
          </a:prstGeom>
          <a:solidFill>
            <a:srgbClr val="31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Centralized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3172968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Voter, candidate, election and vote information stored in the database.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337560"/>
            <a:ext cx="3520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337560"/>
            <a:ext cx="73152" cy="1691640"/>
          </a:xfrm>
          <a:prstGeom prst="rect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Automated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867911"/>
            <a:ext cx="3172968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Valid votes are counted and results are generated from stored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532120"/>
            <a:ext cx="10972800" cy="594360"/>
          </a:xfrm>
          <a:prstGeom prst="roundRect">
            <a:avLst/>
          </a:prstGeom>
          <a:solidFill>
            <a:srgbClr val="E0ECF9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5532120"/>
            <a:ext cx="73152" cy="59436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66928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C"/>
                </a:solidFill>
                <a:latin typeface="Aptos Display"/>
              </a:defRPr>
            </a:pPr>
            <a:r>
              <a:t>Proposed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6062472"/>
            <a:ext cx="10625328" cy="-640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Voter → Web Interface → OTP Verification → Voting Module → Database → Result Module → Admin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Step-by-step operation of the proposed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417320"/>
            <a:ext cx="475488" cy="475488"/>
          </a:xfrm>
          <a:prstGeom prst="ellipse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47548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8988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Registration /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B37"/>
                </a:solidFill>
                <a:latin typeface="Aptos"/>
              </a:defRPr>
            </a:pPr>
            <a:r>
              <a:t>Voter enters required identification details and registered mobile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1417320"/>
            <a:ext cx="475488" cy="475488"/>
          </a:xfrm>
          <a:prstGeom prst="ellipse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81328"/>
            <a:ext cx="47548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38988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OTP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6596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B37"/>
                </a:solidFill>
                <a:latin typeface="Aptos"/>
              </a:defRPr>
            </a:pPr>
            <a:r>
              <a:t>System sends an OTP to the registered mobile number.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344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8200" y="1417320"/>
            <a:ext cx="475488" cy="475488"/>
          </a:xfrm>
          <a:prstGeom prst="ellipse">
            <a:avLst/>
          </a:prstGeom>
          <a:solidFill>
            <a:srgbClr val="64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481328"/>
            <a:ext cx="47548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38988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96596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B37"/>
                </a:solidFill>
                <a:latin typeface="Aptos"/>
              </a:defRPr>
            </a:pPr>
            <a:r>
              <a:t>Voter enters the OTP; the system validates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747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657600"/>
            <a:ext cx="475488" cy="475488"/>
          </a:xfrm>
          <a:prstGeom prst="ellipse">
            <a:avLst/>
          </a:prstGeom>
          <a:solidFill>
            <a:srgbClr val="E2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21608"/>
            <a:ext cx="47548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63016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Voting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0624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B37"/>
                </a:solidFill>
                <a:latin typeface="Aptos"/>
              </a:defRPr>
            </a:pPr>
            <a:r>
              <a:t>Verified voter views candidates and selects one candidate.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4747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17720" y="3657600"/>
            <a:ext cx="475488" cy="475488"/>
          </a:xfrm>
          <a:prstGeom prst="ellipse">
            <a:avLst/>
          </a:prstGeom>
          <a:solidFill>
            <a:srgbClr val="31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721608"/>
            <a:ext cx="47548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63016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Vote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20624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B37"/>
                </a:solidFill>
                <a:latin typeface="Aptos"/>
              </a:defRPr>
            </a:pPr>
            <a:r>
              <a:t>The vote is recorded with the relevant voter, candidate and election details.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4747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8200" y="3657600"/>
            <a:ext cx="475488" cy="475488"/>
          </a:xfrm>
          <a:prstGeom prst="ellipse">
            <a:avLst/>
          </a:prstGeom>
          <a:solidFill>
            <a:srgbClr val="BF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721608"/>
            <a:ext cx="47548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363016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20624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B37"/>
                </a:solidFill>
                <a:latin typeface="Aptos"/>
              </a:defRPr>
            </a:pPr>
            <a:r>
              <a:t>Votes are counted and election results are generated.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Layered view of the major modules and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057400" cy="1143000"/>
          </a:xfrm>
          <a:prstGeom prst="roundRect">
            <a:avLst/>
          </a:prstGeom>
          <a:solidFill>
            <a:srgbClr val="E0ECF9"/>
          </a:solidFill>
          <a:ln w="17780"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011679"/>
            <a:ext cx="190195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Voter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187451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32B37"/>
                </a:solidFill>
                <a:latin typeface="Aptos"/>
              </a:defRPr>
            </a:pPr>
            <a:r>
              <a:t>Registration / Login</a:t>
            </a:r>
            <a:br/>
            <a:r>
              <a:t>Identification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874519"/>
            <a:ext cx="2057400" cy="1143000"/>
          </a:xfrm>
          <a:prstGeom prst="roundRect">
            <a:avLst/>
          </a:prstGeom>
          <a:solidFill>
            <a:srgbClr val="E0F4F2"/>
          </a:solidFill>
          <a:ln w="17780">
            <a:solidFill>
              <a:srgbClr val="22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011679"/>
            <a:ext cx="190195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377439"/>
            <a:ext cx="187451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32B37"/>
                </a:solidFill>
                <a:latin typeface="Aptos"/>
              </a:defRPr>
            </a:pPr>
            <a:r>
              <a:t>Voter validation</a:t>
            </a:r>
            <a:br/>
            <a:r>
              <a:t>OTP generation &amp;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874519"/>
            <a:ext cx="2057400" cy="1143000"/>
          </a:xfrm>
          <a:prstGeom prst="roundRect">
            <a:avLst/>
          </a:prstGeom>
          <a:solidFill>
            <a:srgbClr val="EDE8F9"/>
          </a:solidFill>
          <a:ln w="17780">
            <a:solidFill>
              <a:srgbClr val="64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2" y="2011679"/>
            <a:ext cx="190195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Voting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59" y="2377439"/>
            <a:ext cx="187451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32B37"/>
                </a:solidFill>
                <a:latin typeface="Aptos"/>
              </a:defRPr>
            </a:pPr>
            <a:r>
              <a:t>Candidate display</a:t>
            </a:r>
            <a:br/>
            <a:r>
              <a:t>One-vote restriction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2057400" cy="1143000"/>
          </a:xfrm>
          <a:prstGeom prst="roundRect">
            <a:avLst/>
          </a:prstGeom>
          <a:solidFill>
            <a:srgbClr val="FAEDDE"/>
          </a:solidFill>
          <a:ln w="17780">
            <a:solidFill>
              <a:srgbClr val="E2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2011679"/>
            <a:ext cx="190195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77439"/>
            <a:ext cx="187451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32B37"/>
                </a:solidFill>
                <a:latin typeface="Aptos"/>
              </a:defRPr>
            </a:pPr>
            <a:r>
              <a:t>Voter • Candidate</a:t>
            </a:r>
            <a:br/>
            <a:r>
              <a:t>Election • Vote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4160520"/>
            <a:ext cx="2057400" cy="1143000"/>
          </a:xfrm>
          <a:prstGeom prst="roundRect">
            <a:avLst/>
          </a:prstGeom>
          <a:solidFill>
            <a:srgbClr val="E6F4EA"/>
          </a:solidFill>
          <a:ln w="17780">
            <a:solidFill>
              <a:srgbClr val="31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4297680"/>
            <a:ext cx="190195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Result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59" y="4663440"/>
            <a:ext cx="187451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32B37"/>
                </a:solidFill>
                <a:latin typeface="Aptos"/>
              </a:defRPr>
            </a:pPr>
            <a:r>
              <a:t>Count valid votes</a:t>
            </a:r>
            <a:br/>
            <a:r>
              <a:t>Generate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160520"/>
            <a:ext cx="2057400" cy="1143000"/>
          </a:xfrm>
          <a:prstGeom prst="roundRect">
            <a:avLst/>
          </a:prstGeom>
          <a:solidFill>
            <a:srgbClr val="FAE6E8"/>
          </a:solidFill>
          <a:ln w="17780">
            <a:solidFill>
              <a:srgbClr val="BF4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4297680"/>
            <a:ext cx="190195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22A4C"/>
                </a:solidFill>
                <a:latin typeface="Aptos"/>
              </a:defRPr>
            </a:pPr>
            <a:r>
              <a:t>Admin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187451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32B37"/>
                </a:solidFill>
                <a:latin typeface="Aptos"/>
              </a:defRPr>
            </a:pPr>
            <a:r>
              <a:t>Manage voters, candidates</a:t>
            </a:r>
            <a:br/>
            <a:r>
              <a:t>and election status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2450592"/>
            <a:ext cx="365760" cy="0"/>
          </a:xfrm>
          <a:prstGeom prst="line">
            <a:avLst/>
          </a:prstGeom>
          <a:ln w="2286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0" y="2450592"/>
            <a:ext cx="457200" cy="0"/>
          </a:xfrm>
          <a:prstGeom prst="line">
            <a:avLst/>
          </a:prstGeom>
          <a:ln w="2286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89520" y="2450592"/>
            <a:ext cx="457200" cy="0"/>
          </a:xfrm>
          <a:prstGeom prst="line">
            <a:avLst/>
          </a:prstGeom>
          <a:ln w="2286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65392" y="3035808"/>
            <a:ext cx="0" cy="1078992"/>
          </a:xfrm>
          <a:prstGeom prst="line">
            <a:avLst/>
          </a:prstGeom>
          <a:ln w="2286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98280" y="3035808"/>
            <a:ext cx="91440" cy="1078992"/>
          </a:xfrm>
          <a:prstGeom prst="line">
            <a:avLst/>
          </a:prstGeom>
          <a:ln w="2286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589520" y="4736592"/>
            <a:ext cx="502920" cy="0"/>
          </a:xfrm>
          <a:prstGeom prst="line">
            <a:avLst/>
          </a:prstGeom>
          <a:ln w="2286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4360" y="5623560"/>
            <a:ext cx="10972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5623560"/>
            <a:ext cx="73152" cy="566928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76072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A4C"/>
                </a:solidFill>
                <a:latin typeface="Aptos Display"/>
              </a:defRPr>
            </a:pPr>
            <a:r>
              <a:t>Architecture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6153912"/>
            <a:ext cx="10625328" cy="-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32B37"/>
                </a:solidFill>
                <a:latin typeface="Aptos"/>
              </a:defRPr>
            </a:pPr>
            <a:r>
              <a:t>• Presentation layer collects input; authentication validates the voter; the voting module enforces the one-vote workflow; the database stores records; result and admin modules operate on the stored information.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Entity–Relationship (ER)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Database entities, attributes and relationships for the voting workflow</a:t>
            </a:r>
          </a:p>
        </p:txBody>
      </p:sp>
      <p:pic>
        <p:nvPicPr>
          <p:cNvPr id="7" name="Picture 6" descr="a_clean_colorful_infographic_style_er_diagram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1155680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Major System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Functional responsibilities of the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196596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Voter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64792"/>
            <a:ext cx="3172968" cy="1307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Enter voter details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Request / receive OTP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View candidates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Cast one vote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73152" cy="1965960"/>
          </a:xfrm>
          <a:prstGeom prst="rect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Authentication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764792"/>
            <a:ext cx="3172968" cy="1307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Validate voter details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Generate OTP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Check OTP and expiry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Mark verification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234440"/>
            <a:ext cx="73152" cy="1965960"/>
          </a:xfrm>
          <a:prstGeom prst="rect">
            <a:avLst/>
          </a:prstGeom>
          <a:solidFill>
            <a:srgbClr val="64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Voting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764792"/>
            <a:ext cx="3172968" cy="1307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Display active candidates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Check one-vote condition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Record vote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Associate vote with election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6616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566160"/>
            <a:ext cx="73152" cy="1965960"/>
          </a:xfrm>
          <a:prstGeom prst="rect">
            <a:avLst/>
          </a:prstGeom>
          <a:solidFill>
            <a:srgbClr val="E2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7033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Admin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96511"/>
            <a:ext cx="3172968" cy="1307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Manage voters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Add / remove candidates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Manage elections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Monitor voting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56616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566160"/>
            <a:ext cx="73152" cy="1965960"/>
          </a:xfrm>
          <a:prstGeom prst="rect">
            <a:avLst/>
          </a:prstGeom>
          <a:solidFill>
            <a:srgbClr val="31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7033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  <a:latin typeface="Aptos Display"/>
              </a:defRPr>
            </a:pPr>
            <a:r>
              <a:t>Result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096511"/>
            <a:ext cx="3172968" cy="1307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Retrieve valid votes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Count votes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Generate candidate totals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Display final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Technology stack specified in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520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22A4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3154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32B37"/>
                </a:solidFill>
                <a:latin typeface="Aptos"/>
              </a:defRPr>
            </a:pPr>
            <a:r>
              <a:t>HTML</a:t>
            </a:r>
            <a:br/>
            <a:r>
              <a:t>CSS</a:t>
            </a:r>
            <a:br/>
            <a:r>
              <a:t>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520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27048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22A4C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3154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32B37"/>
                </a:solidFill>
                <a:latin typeface="Aptos"/>
              </a:defRPr>
            </a:pPr>
            <a:r>
              <a:t>Python</a:t>
            </a:r>
            <a:br/>
            <a:r>
              <a:t>Flask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25880"/>
            <a:ext cx="3520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27048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22A4C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39112"/>
            <a:ext cx="3154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32B37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29000"/>
            <a:ext cx="3520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30168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22A4C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42232"/>
            <a:ext cx="3154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32B37"/>
                </a:solidFill>
                <a:latin typeface="Aptos"/>
              </a:defRPr>
            </a:pPr>
            <a:r>
              <a:t>OTP</a:t>
            </a:r>
            <a:br/>
            <a:r>
              <a:t>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29000"/>
            <a:ext cx="3520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630168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22A4C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142232"/>
            <a:ext cx="3154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32B37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429000"/>
            <a:ext cx="3520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4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630168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22A4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142232"/>
            <a:ext cx="3154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32B37"/>
                </a:solidFill>
                <a:latin typeface="Aptos"/>
              </a:defRPr>
            </a:pPr>
            <a:r>
              <a:t>Web Browser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532120"/>
            <a:ext cx="10972800" cy="621792"/>
          </a:xfrm>
          <a:prstGeom prst="roundRect">
            <a:avLst/>
          </a:prstGeom>
          <a:solidFill>
            <a:srgbClr val="E0ECF9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532120"/>
            <a:ext cx="73152" cy="621792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66928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A4C"/>
                </a:solidFill>
                <a:latin typeface="Aptos Display"/>
              </a:defRPr>
            </a:pPr>
            <a:r>
              <a:t>Implementation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6062472"/>
            <a:ext cx="10625328" cy="-365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32B37"/>
                </a:solidFill>
                <a:latin typeface="Aptos"/>
              </a:defRPr>
            </a:pPr>
            <a:r>
              <a:t>• Frontend handles the user interface; Flask/Python provides backend logic; MySQL stores application data; OTP verification provides the authentication step; VS Code and a web browser support development and testing.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Security, Benefits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Points to be ready for during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520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2926080"/>
          </a:xfrm>
          <a:prstGeom prst="rect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Security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64792"/>
            <a:ext cx="3172968" cy="2267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OTP-based verification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One-vote restriction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Voter verification status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Controlled admin functions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Database-backed vote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520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2926080"/>
          </a:xfrm>
          <a:prstGeom prst="rect">
            <a:avLst/>
          </a:prstGeom>
          <a:solidFill>
            <a:srgbClr val="31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64792"/>
            <a:ext cx="3172968" cy="2267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Reduced paperwork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Lower manual effort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Faster vote processing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Automatic result calculation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Convenient user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520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73152" cy="2926080"/>
          </a:xfrm>
          <a:prstGeom prst="rect">
            <a:avLst/>
          </a:prstGeom>
          <a:solidFill>
            <a:srgbClr val="E2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Prototype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64792"/>
            <a:ext cx="3172968" cy="22677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Internet and system availability are required.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Real-world elections need stronger security, auditability, privacy, accessibility and independent verification.</a:t>
            </a:r>
          </a:p>
          <a:p>
            <a:pPr>
              <a:spcAft>
                <a:spcPts val="500"/>
              </a:spcAft>
              <a:defRPr sz="1100">
                <a:solidFill>
                  <a:srgbClr val="232B37"/>
                </a:solidFill>
                <a:latin typeface="Aptos"/>
              </a:defRPr>
            </a:pPr>
            <a:r>
              <a:t>• Official Aadhaar/UIDAI integration is outside this academic prototype unless explicitly implemented.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26280"/>
            <a:ext cx="10972800" cy="1325880"/>
          </a:xfrm>
          <a:prstGeom prst="roundRect">
            <a:avLst/>
          </a:prstGeom>
          <a:solidFill>
            <a:srgbClr val="EDE8F9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526280"/>
            <a:ext cx="73152" cy="1325880"/>
          </a:xfrm>
          <a:prstGeom prst="rect">
            <a:avLst/>
          </a:prstGeom>
          <a:solidFill>
            <a:srgbClr val="64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66344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 Display"/>
              </a:defRPr>
            </a:pPr>
            <a:r>
              <a:t>What We Would Add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056632"/>
            <a:ext cx="10625328" cy="667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Role-based access control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Audit logs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Stronger session security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Encrypted sensitive data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Independent security testing</a:t>
            </a:r>
          </a:p>
          <a:p>
            <a:pPr>
              <a:spcAft>
                <a:spcPts val="500"/>
              </a:spcAft>
              <a:defRPr sz="1200">
                <a:solidFill>
                  <a:srgbClr val="232B37"/>
                </a:solidFill>
                <a:latin typeface="Aptos"/>
              </a:defRPr>
            </a:pPr>
            <a:r>
              <a:t>• Scalable deployment and monitoring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8"/>
                </a:solidFill>
                <a:latin typeface="Aptos"/>
              </a:defRPr>
            </a:pPr>
            <a:r>
              <a:t>A concise summary for the final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25880"/>
            <a:ext cx="9966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22A4C"/>
                </a:solidFill>
                <a:latin typeface="Aptos"/>
              </a:defRPr>
            </a:pPr>
            <a:r>
              <a:t>The project demonstrates a structured online voting workflow built around voter verification, one-vote control, centralized data management and automated result generation.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2514600"/>
            <a:ext cx="292608" cy="292608"/>
          </a:xfrm>
          <a:prstGeom prst="ellipse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32888"/>
            <a:ext cx="29260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871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  <a:latin typeface="Aptos"/>
              </a:defRPr>
            </a:pPr>
            <a:r>
              <a:t>Voter enters identification details and registered mobile number.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3035808"/>
            <a:ext cx="292608" cy="292608"/>
          </a:xfrm>
          <a:prstGeom prst="ellipse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054096"/>
            <a:ext cx="29260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00837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  <a:latin typeface="Aptos"/>
              </a:defRPr>
            </a:pPr>
            <a:r>
              <a:t>OTP verification adds an authentication step before voting.</a:t>
            </a:r>
          </a:p>
        </p:txBody>
      </p:sp>
      <p:sp>
        <p:nvSpPr>
          <p:cNvPr id="14" name="Oval 13"/>
          <p:cNvSpPr/>
          <p:nvPr/>
        </p:nvSpPr>
        <p:spPr>
          <a:xfrm>
            <a:off x="1234440" y="3557015"/>
            <a:ext cx="292608" cy="292608"/>
          </a:xfrm>
          <a:prstGeom prst="ellipse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575303"/>
            <a:ext cx="29260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29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  <a:latin typeface="Aptos"/>
              </a:defRPr>
            </a:pPr>
            <a:r>
              <a:t>Verified voters proceed to candidate selection and one-time vote submission.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4078224"/>
            <a:ext cx="292608" cy="292608"/>
          </a:xfrm>
          <a:prstGeom prst="ellipse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096511"/>
            <a:ext cx="29260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050791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  <a:latin typeface="Aptos"/>
              </a:defRPr>
            </a:pPr>
            <a:r>
              <a:t>Vote, candidate and election information are managed through the database.</a:t>
            </a:r>
          </a:p>
        </p:txBody>
      </p:sp>
      <p:sp>
        <p:nvSpPr>
          <p:cNvPr id="20" name="Oval 19"/>
          <p:cNvSpPr/>
          <p:nvPr/>
        </p:nvSpPr>
        <p:spPr>
          <a:xfrm>
            <a:off x="1234440" y="4599431"/>
            <a:ext cx="292608" cy="292608"/>
          </a:xfrm>
          <a:prstGeom prst="ellipse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617719"/>
            <a:ext cx="29260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571999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  <a:latin typeface="Aptos"/>
              </a:defRPr>
            </a:pPr>
            <a:r>
              <a:t>Admin functions support election and result management.</a:t>
            </a:r>
          </a:p>
        </p:txBody>
      </p:sp>
      <p:sp>
        <p:nvSpPr>
          <p:cNvPr id="23" name="Oval 22"/>
          <p:cNvSpPr/>
          <p:nvPr/>
        </p:nvSpPr>
        <p:spPr>
          <a:xfrm>
            <a:off x="1234440" y="5120640"/>
            <a:ext cx="292608" cy="292608"/>
          </a:xfrm>
          <a:prstGeom prst="ellipse">
            <a:avLst/>
          </a:prstGeom>
          <a:solidFill>
            <a:srgbClr val="22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138927"/>
            <a:ext cx="29260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093207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B37"/>
                </a:solidFill>
                <a:latin typeface="Aptos"/>
              </a:defRPr>
            </a:pPr>
            <a:r>
              <a:t>The prototype provides a clear foundation for studying authentication, database management and secure voting concepts.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715000"/>
            <a:ext cx="9966960" cy="502920"/>
          </a:xfrm>
          <a:prstGeom prst="roundRect">
            <a:avLst/>
          </a:prstGeom>
          <a:solidFill>
            <a:srgbClr val="E0ECF9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5715000"/>
            <a:ext cx="73152" cy="50292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5852160"/>
            <a:ext cx="9646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A4C"/>
                </a:solidFill>
                <a:latin typeface="Aptos Display"/>
              </a:defRPr>
            </a:pPr>
            <a:r>
              <a:t>Final Line for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6245352"/>
            <a:ext cx="9619488" cy="-1554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32B37"/>
                </a:solidFill>
                <a:latin typeface="Aptos"/>
              </a:defRPr>
            </a:pPr>
            <a:r>
              <a:t>• “Our main focus is not only online voting, but a complete workflow in which voter verification, vote restriction, data management and result generation work together as one system.”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56248"/>
            <a:ext cx="11155680" cy="1371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92824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Online Voting System • Team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2A4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17520" y="1828800"/>
            <a:ext cx="6126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743200"/>
            <a:ext cx="6126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BED7F0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88620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K. Sandhya Rani  •  M. Meenakshi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572000"/>
            <a:ext cx="3474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BED7F0"/>
                </a:solidFill>
                <a:latin typeface="Aptos"/>
              </a:defRPr>
            </a:pPr>
            <a:r>
              <a:t>Team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